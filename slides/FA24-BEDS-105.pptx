
<file path=[Content_Types].xml><?xml version="1.0" encoding="utf-8"?>
<Types xmlns="http://schemas.openxmlformats.org/package/2006/content-types">
  <Default Extension="svg" ContentType="image/svg+xml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B6E"/>
                </a:solidFill>
              </a:defRPr>
            </a:pPr>
            <a:r>
              <a:t>ECO346 Assignment 1 — Variant 5: KP urban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3B6E"/>
                </a:solidFill>
              </a:rPr>
              <a:t>Registration number</a:t>
            </a:r>
          </a:p>
          <a:p>
            <a:r>
              <a:rPr sz="1400">
                <a:solidFill>
                  <a:srgbClr val="555555"/>
                </a:solidFill>
              </a:rPr>
              <a:t>FA24-BEDS-105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B6E"/>
                </a:solidFill>
              </a:rPr>
              <a:t>Variant</a:t>
            </a:r>
          </a:p>
          <a:p>
            <a:r>
              <a:rPr sz="1400">
                <a:solidFill>
                  <a:srgbClr val="555555"/>
                </a:solidFill>
              </a:rPr>
              <a:t>5 = Khyber Pakhtunkhwa, urban  (prov_code 1, urban_rural 2)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B6E"/>
                </a:solidFill>
              </a:rPr>
              <a:t>Data</a:t>
            </a:r>
          </a:p>
          <a:p>
            <a:r>
              <a:rPr sz="1400">
                <a:solidFill>
                  <a:srgbClr val="555555"/>
                </a:solidFill>
              </a:rPr>
              <a:t>PSLM 2019-20 person and household files; Population estimates weighted by hhweight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B6E"/>
                </a:solidFill>
              </a:rPr>
              <a:t>Deliverables</a:t>
            </a:r>
          </a:p>
          <a:p>
            <a:r>
              <a:rPr sz="1400">
                <a:solidFill>
                  <a:srgbClr val="555555"/>
                </a:solidFill>
              </a:rPr>
              <a:t>Two figures in R, a makeover, and the band table reproduced in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B6E"/>
                </a:solidFill>
              </a:defRPr>
            </a:pPr>
            <a:r>
              <a:t>The makeover: default (left) vs redesign (right)</a:t>
            </a:r>
          </a:p>
        </p:txBody>
      </p:sp>
      <p:pic>
        <p:nvPicPr>
          <p:cNvPr id="3" name="Picture 2" descr="_default_slid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40" y="1234440"/>
            <a:ext cx="4114800" cy="2939143"/>
          </a:xfrm>
          <a:prstGeom prst="rect">
            <a:avLst/>
          </a:prstGeom>
        </p:spPr>
      </p:pic>
      <p:pic>
        <p:nvPicPr>
          <p:cNvPr id="4" name="Picture 3" descr="_literacy_slid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9160" y="1234440"/>
            <a:ext cx="4114800" cy="26625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52628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555"/>
                </a:solidFill>
              </a:defRPr>
            </a:pPr>
            <a:r>
              <a:t>Default: raw literate-vs-age points, heavily overplotted.  Redesign: weighted literacy by age band, two series, direct end labels, no legend, thin cells hollow, widest gap directly annotated.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B6E"/>
                </a:solidFill>
              </a:defRPr>
            </a:pPr>
            <a:r>
              <a:t>Key finding: large gender gap in literacy across older cohorts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F3B6E"/>
                </a:solidFill>
              </a:rPr>
              <a:t>Women: 68.1% at ages 15-19 vs 16.2% at ages 55-59</a:t>
            </a:r>
          </a:p>
          <a:p>
            <a:r>
              <a:rPr sz="1300">
                <a:solidFill>
                  <a:srgbClr val="555555"/>
                </a:solidFill>
              </a:rPr>
              <a:t>Men: 89.7% at ages 15-19 vs 58.8% at ages 55-59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3B6E"/>
                </a:solidFill>
              </a:rPr>
              <a:t>Largest gap at ages 40-44: 47.4 percentage points</a:t>
            </a:r>
          </a:p>
          <a:p>
            <a:r>
              <a:rPr sz="1300">
                <a:solidFill>
                  <a:srgbClr val="555555"/>
                </a:solidFill>
              </a:rPr>
              <a:t>Men 77.1% vs women 29.7%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3B6E"/>
                </a:solidFill>
              </a:rPr>
              <a:t>Interpretation</a:t>
            </a:r>
          </a:p>
          <a:p>
            <a:r>
              <a:rPr sz="1300">
                <a:solidFill>
                  <a:srgbClr val="555555"/>
                </a:solidFill>
              </a:rPr>
              <a:t>Cross-sectional data show generational inequalities; cannot establish causes or aging effects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B6E"/>
                </a:solidFill>
              </a:defRPr>
            </a:pPr>
            <a:r>
              <a:t>Education spending: skewed even in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F3B6E"/>
                </a:solidFill>
              </a:rPr>
              <a:t>Weighted median Rs 9,500; weighted 90th percentile Rs 39,000</a:t>
            </a:r>
          </a:p>
          <a:p>
            <a:r>
              <a:rPr sz="1300">
                <a:solidFill>
                  <a:srgbClr val="555555"/>
                </a:solidFill>
              </a:rPr>
              <a:t>Ratio of 90th to 10th percentile: 12.38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3B6E"/>
                </a:solidFill>
              </a:rPr>
              <a:t>Weighting shifts median from Rs 10,100 (sample) to Rs 9,500 (population)</a:t>
            </a:r>
          </a:p>
          <a:p>
            <a:r>
              <a:rPr sz="1300">
                <a:solidFill>
                  <a:srgbClr val="555555"/>
                </a:solidFill>
              </a:rPr>
              <a:t>Lower-spending students have higher average survey weights (268.7 vs 228.4)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3B6E"/>
                </a:solidFill>
              </a:rPr>
              <a:t>Sample</a:t>
            </a:r>
          </a:p>
          <a:p>
            <a:r>
              <a:rPr sz="1300">
                <a:solidFill>
                  <a:srgbClr val="555555"/>
                </a:solidFill>
              </a:rPr>
              <a:t>1,060 students analysed of 1,061 (1 excluded outside Rs 100-Rs 1,000,000)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