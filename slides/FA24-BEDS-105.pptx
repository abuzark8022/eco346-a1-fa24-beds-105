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565392"/>
            <a:ext cx="8979408" cy="292608"/>
          </a:xfrm>
          <a:prstGeom prst="rect">
            <a:avLst/>
          </a:prstGeom>
          <a:solidFill>
            <a:srgbClr val="2E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565392"/>
            <a:ext cx="8412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3ECDF"/>
                </a:solidFill>
                <a:latin typeface="Calibri"/>
              </a:rPr>
              <a:t>ECO346  ·  FA24-BEDS-105  ·  Variant 5, KP urban  ·  PSLM 2019-20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83210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ECO346  ASSIGNMENT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84124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241F"/>
                </a:solidFill>
                <a:latin typeface="Georgia"/>
              </a:rPr>
              <a:t>Variant 5: urban Khyber Pakhtunkhwa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42415"/>
            <a:ext cx="84124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PSLM 2019-20 person file, joined to households by hhid; estimates weighted by hhweight.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36192"/>
            <a:ext cx="2697480" cy="292608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536192"/>
            <a:ext cx="82296" cy="2926080"/>
          </a:xfrm>
          <a:prstGeom prst="rect">
            <a:avLst/>
          </a:prstGeom>
          <a:solidFill>
            <a:srgbClr val="B8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00784"/>
            <a:ext cx="23682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WHO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56816"/>
            <a:ext cx="2368296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A241F"/>
                </a:solidFill>
                <a:latin typeface="Georgia"/>
              </a:rPr>
              <a:t>FA24-BEDS-105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414016"/>
            <a:ext cx="2368296" cy="1883665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Remainder of 05 ÷ 8 is 5.
Province code 1, urban_rural 2.
Work only with KP urban persons.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1536192"/>
            <a:ext cx="2697480" cy="292608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18688" y="1536192"/>
            <a:ext cx="82296" cy="2926080"/>
          </a:xfrm>
          <a:prstGeom prst="rect">
            <a:avLst/>
          </a:prstGeom>
          <a:solidFill>
            <a:srgbClr val="B8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1700784"/>
            <a:ext cx="23682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TWO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1956816"/>
            <a:ext cx="2368296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A241F"/>
                </a:solidFill>
                <a:latin typeface="Georgia"/>
              </a:rPr>
              <a:t>Literacy and spending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14016"/>
            <a:ext cx="2368296" cy="1883665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Literacy: ages 10-64, literate not missing (n = 2,357).
Students: annual ed_total &gt; 0 (n = 1,061). One student outside Rs 100-Rs 1,000,000 is dropped from the histogram.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536192"/>
            <a:ext cx="2697480" cy="292608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1536192"/>
            <a:ext cx="82296" cy="2926080"/>
          </a:xfrm>
          <a:prstGeom prst="rect">
            <a:avLst/>
          </a:prstGeom>
          <a:solidFill>
            <a:srgbClr val="B8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1700784"/>
            <a:ext cx="23682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FIGURES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1956816"/>
            <a:ext cx="2368296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A241F"/>
                </a:solidFill>
                <a:latin typeface="Georgia"/>
              </a:rPr>
              <a:t>R, then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414016"/>
            <a:ext cx="2368296" cy="1883665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Default scatter committed first. Redesign is literacy by age. Histogram of education spending. Band table redrawn in Python; rates agree to one decimal.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617720"/>
            <a:ext cx="832104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A241F"/>
                </a:solidFill>
                <a:latin typeface="Georgia"/>
              </a:rPr>
              <a:t>Today: the makeover, then one finding — the gender gap in literacy is widest at ages 40-44 (47.4 points).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565392"/>
            <a:ext cx="8979408" cy="292608"/>
          </a:xfrm>
          <a:prstGeom prst="rect">
            <a:avLst/>
          </a:prstGeom>
          <a:solidFill>
            <a:srgbClr val="2E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565392"/>
            <a:ext cx="8412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3ECDF"/>
                </a:solidFill>
                <a:latin typeface="Calibri"/>
              </a:rPr>
              <a:t>ECO346  ·  FA24-BEDS-105  ·  Variant 5, KP urban  ·  PSLM 2019-20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83210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QUESTION 4  ·  THE MAKEOVER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84124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241F"/>
                </a:solidFill>
                <a:latin typeface="Georgia"/>
              </a:rPr>
              <a:t>Default scatter, then the 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42415"/>
            <a:ext cx="84124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Same literacy sample. Left is ggplot defaults only. Right is weighted rates by five-year age band.</a:t>
            </a:r>
          </a:p>
        </p:txBody>
      </p:sp>
      <p:pic>
        <p:nvPicPr>
          <p:cNvPr id="8" name="Picture 7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" y="1417320"/>
            <a:ext cx="4160520" cy="2971800"/>
          </a:xfrm>
          <a:prstGeom prst="rect">
            <a:avLst/>
          </a:prstGeom>
        </p:spPr>
      </p:pic>
      <p:pic>
        <p:nvPicPr>
          <p:cNvPr id="9" name="Picture 8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17720" y="1417320"/>
            <a:ext cx="4160520" cy="2692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462272"/>
            <a:ext cx="4160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564C"/>
                </a:solidFill>
                <a:latin typeface="Calibri"/>
              </a:rPr>
              <a:t>DEFAULT  ·  overplotted 0/1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4462272"/>
            <a:ext cx="4160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564C"/>
                </a:solidFill>
                <a:latin typeface="Calibri"/>
              </a:rPr>
              <a:t>REDESIGN  ·  conditional means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773168"/>
            <a:ext cx="2697480" cy="1627632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4864608"/>
            <a:ext cx="24414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E2F28"/>
                </a:solidFill>
                <a:latin typeface="Georgia"/>
              </a:rPr>
              <a:t>Conditional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5212080"/>
            <a:ext cx="2441448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Band averages show the age pattern that overlapping dots hide (overplotting).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18688" y="4773168"/>
            <a:ext cx="2697480" cy="1627632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4864608"/>
            <a:ext cx="24414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E2F28"/>
                </a:solidFill>
                <a:latin typeface="Georgia"/>
              </a:rPr>
              <a:t>Position, then colour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5212080"/>
            <a:ext cx="2441448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Age and the rate sit on position, the strongest channel. Colour only splits men and women.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4773168"/>
            <a:ext cx="2697480" cy="1627632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3056" y="4864608"/>
            <a:ext cx="24414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E2F28"/>
                </a:solidFill>
                <a:latin typeface="Georgia"/>
              </a:rPr>
              <a:t>Data-ink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5212080"/>
            <a:ext cx="2441448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No legend: each series is labelled at its end. Hollow markers would mark thin cells (none here).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6565392"/>
            <a:ext cx="8979408" cy="292608"/>
          </a:xfrm>
          <a:prstGeom prst="rect">
            <a:avLst/>
          </a:prstGeom>
          <a:solidFill>
            <a:srgbClr val="2E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565392"/>
            <a:ext cx="8412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3ECDF"/>
                </a:solidFill>
                <a:latin typeface="Calibri"/>
              </a:rPr>
              <a:t>ECO346  ·  FA24-BEDS-105  ·  Variant 5, KP urban  ·  PSLM 2019-20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83210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E2F28"/>
                </a:solidFill>
                <a:latin typeface="Calibri"/>
              </a:rPr>
              <a:t>ONE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84124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241F"/>
                </a:solidFill>
                <a:latin typeface="Georgia"/>
              </a:rPr>
              <a:t>The gender gap is widest at ages 40-44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42415"/>
            <a:ext cx="84124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64C"/>
                </a:solidFill>
                <a:latin typeface="Calibri"/>
              </a:rPr>
              <a:t>Weighted literacy rates, KP urban, ages 10-64. Men in steel blue; women in ochre, as on the figure.</a:t>
            </a:r>
          </a:p>
        </p:txBody>
      </p:sp>
      <p:pic>
        <p:nvPicPr>
          <p:cNvPr id="8" name="Picture 7" descr="_literacy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040" y="1389888"/>
            <a:ext cx="5074920" cy="32837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577840" y="1444752"/>
            <a:ext cx="1600200" cy="123444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7568" y="1554480"/>
            <a:ext cx="1380744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D95F02"/>
                </a:solidFill>
                <a:latin typeface="Georgia"/>
              </a:rPr>
              <a:t>68.1%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7568" y="2121408"/>
            <a:ext cx="1380744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Women 15-19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444752"/>
            <a:ext cx="1600200" cy="123444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4928" y="1554480"/>
            <a:ext cx="1380744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D95F02"/>
                </a:solidFill>
                <a:latin typeface="Georgia"/>
              </a:rPr>
              <a:t>16.2%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2121408"/>
            <a:ext cx="1380744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Women 55-59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2816352"/>
            <a:ext cx="1600200" cy="123444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2926080"/>
            <a:ext cx="1380744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C7FB8"/>
                </a:solidFill>
                <a:latin typeface="Georgia"/>
              </a:rPr>
              <a:t>89.7%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3493008"/>
            <a:ext cx="1380744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Men 15-19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2816352"/>
            <a:ext cx="1600200" cy="123444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8" y="2926080"/>
            <a:ext cx="1380744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C7FB8"/>
                </a:solidFill>
                <a:latin typeface="Georgia"/>
              </a:rPr>
              <a:t>58.8%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493008"/>
            <a:ext cx="1380744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Men 55-59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77840" y="4187952"/>
            <a:ext cx="3337560" cy="1234440"/>
          </a:xfrm>
          <a:prstGeom prst="rect">
            <a:avLst/>
          </a:prstGeom>
          <a:solidFill>
            <a:srgbClr val="FBF7F0"/>
          </a:solidFill>
          <a:ln w="9525">
            <a:solidFill>
              <a:srgbClr val="D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87568" y="4297680"/>
            <a:ext cx="3118104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E2F28"/>
                </a:solidFill>
                <a:latin typeface="Georgia"/>
              </a:rPr>
              <a:t>47.4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7568" y="4864608"/>
            <a:ext cx="3118104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64C"/>
                </a:solidFill>
                <a:latin typeface="Calibri"/>
              </a:rPr>
              <a:t>Men 77.1% vs women 29.7% at ages 40-44
(gap at 55-59 is 42.6 points)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06440"/>
            <a:ext cx="8321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241F"/>
                </a:solidFill>
                <a:latin typeface="Calibri"/>
              </a:rPr>
              <a:t>This is a cross-section, not a life history. It cannot tell us why the gap exists, or whether it is a cohort effect or aging.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