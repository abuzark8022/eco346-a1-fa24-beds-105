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6E"/>
                </a:solidFill>
              </a:defRPr>
            </a:pPr>
            <a:r>
              <a:t>ECO346 Assignment 1 - Variant 5: KP urban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Registration number</a:t>
            </a:r>
          </a:p>
          <a:p>
            <a:r>
              <a:rPr sz="1400">
                <a:solidFill>
                  <a:srgbClr val="555555"/>
                </a:solidFill>
              </a:rPr>
              <a:t>FA24-BEDS-105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Variant</a:t>
            </a:r>
          </a:p>
          <a:p>
            <a:r>
              <a:rPr sz="1400">
                <a:solidFill>
                  <a:srgbClr val="555555"/>
                </a:solidFill>
              </a:rPr>
              <a:t>5 = Khyber Pakhtunkhwa, urban  (prov_code 1, urban_rural 2)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Data</a:t>
            </a:r>
          </a:p>
          <a:p>
            <a:r>
              <a:rPr sz="1400">
                <a:solidFill>
                  <a:srgbClr val="555555"/>
                </a:solidFill>
              </a:rPr>
              <a:t>PSLM 2019-20 person and household files; Population estimates weighted by hhweight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Deliverables</a:t>
            </a:r>
          </a:p>
          <a:p>
            <a:r>
              <a:rPr sz="1400">
                <a:solidFill>
                  <a:srgbClr val="555555"/>
                </a:solidFill>
              </a:rPr>
              <a:t>Two figures in R, a makeover, and the band table reproduced in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The makeover: default (left) vs redesign (right)</a:t>
            </a:r>
          </a:p>
        </p:txBody>
      </p:sp>
      <p:pic>
        <p:nvPicPr>
          <p:cNvPr id="3" name="Picture 2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040" y="1234440"/>
            <a:ext cx="4114800" cy="2939143"/>
          </a:xfrm>
          <a:prstGeom prst="rect">
            <a:avLst/>
          </a:prstGeom>
        </p:spPr>
      </p:pic>
      <p:pic>
        <p:nvPicPr>
          <p:cNvPr id="4" name="Picture 3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160" y="1234440"/>
            <a:ext cx="4114800" cy="26625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262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Default: raw literate-vs-age points, heavily overplotted.  Redesign: weighted literacy by age band, two series, direct end labels, no legend, thin cells hollow, widest gap directly annotated.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3B6E"/>
                </a:solidFill>
              </a:defRPr>
            </a:pPr>
            <a:r>
              <a:t>Key finding: widest gender gap in literacy at ages 40-44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Women: 68.1% at ages 15-19 vs 16.2% at ages 55-59</a:t>
            </a:r>
          </a:p>
          <a:p>
            <a:r>
              <a:rPr sz="1300">
                <a:solidFill>
                  <a:srgbClr val="555555"/>
                </a:solidFill>
              </a:rPr>
              <a:t>Men: 89.7% at ages 15-19 vs 58.8% at ages 55-59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Largest gap at ages 40-44: 47.4 percentage points</a:t>
            </a:r>
          </a:p>
          <a:p>
            <a:r>
              <a:rPr sz="1300">
                <a:solidFill>
                  <a:srgbClr val="555555"/>
                </a:solidFill>
              </a:rPr>
              <a:t>Men 77.1% vs women 29.7% — wider than at 55-59 (42.6 points)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What this cannot tell us</a:t>
            </a:r>
          </a:p>
          <a:p>
            <a:r>
              <a:rPr sz="1300">
                <a:solidFill>
                  <a:srgbClr val="555555"/>
                </a:solidFill>
              </a:rPr>
              <a:t>Causes of the gap, or whether it is a cohort effect or an aging effect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