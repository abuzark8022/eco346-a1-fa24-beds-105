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6.svg" ContentType="image/svg+xml"/>
  <Override PartName="/ppt/media/image7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10896"/>
            <a:ext cx="365760" cy="36576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822960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E3A8A"/>
                </a:solidFill>
                <a:latin typeface="Calibri"/>
              </a:rPr>
              <a:t>ECO346  ASSIGNMENT 1  ·  METHODOLOGY &amp; OVERVIEW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F172A"/>
                </a:solidFill>
                <a:latin typeface="Georgia"/>
              </a:rPr>
              <a:t>Variant 5: Urban Khyber Pakhtunkhwa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PSLM 2019–20 microdata analysis of household education spending and demographic literacy rates.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2633472" cy="2971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2633472" cy="36576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618488"/>
            <a:ext cx="2377440" cy="2788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950" b="1" i="0">
                <a:solidFill>
                  <a:srgbClr val="1E3A8A"/>
                </a:solidFill>
                <a:latin typeface="Calibri"/>
              </a:rPr>
              <a:t>ASSIGNMENT VARIANT</a:t>
            </a:r>
          </a:p>
          <a:p>
            <a:pPr>
              <a:spcBef>
                <a:spcPts val="300"/>
              </a:spcBef>
              <a:spcAft>
                <a:spcPts val="800"/>
              </a:spcAft>
            </a:pPr>
            <a:r>
              <a:rPr sz="1600" b="1" i="0">
                <a:solidFill>
                  <a:srgbClr val="0F172A"/>
                </a:solidFill>
                <a:latin typeface="Georgia"/>
              </a:rPr>
              <a:t>FA24-BEDS-105</a:t>
            </a:r>
          </a:p>
          <a:p>
            <a:pPr>
              <a:spcBef>
                <a:spcPts val="200"/>
              </a:spcBef>
            </a:pPr>
            <a:r>
              <a:rPr sz="1050" b="0" i="0">
                <a:solidFill>
                  <a:srgbClr val="334155"/>
                </a:solidFill>
                <a:latin typeface="Calibri"/>
              </a:rPr>
              <a:t>• Registration: FA24-BEDS-105
• Last 2 digits: 05 ÷ 8 = 0 remainder 5
• Variant 5 = KP Urban
  - Province: Khyber Pakhtunkhwa (1)
  - Area: Urban (2)
• Strict subsetting applied in all R and Python scripts.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55264" y="1508760"/>
            <a:ext cx="2633472" cy="2971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55264" y="1508760"/>
            <a:ext cx="2633472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618488"/>
            <a:ext cx="2377440" cy="2788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950" b="1" i="0">
                <a:solidFill>
                  <a:srgbClr val="0D9488"/>
                </a:solidFill>
                <a:latin typeface="Calibri"/>
              </a:rPr>
              <a:t>MICRODATA SAMPLES</a:t>
            </a:r>
          </a:p>
          <a:p>
            <a:pPr>
              <a:spcBef>
                <a:spcPts val="300"/>
              </a:spcBef>
              <a:spcAft>
                <a:spcPts val="800"/>
              </a:spcAft>
            </a:pPr>
            <a:r>
              <a:rPr sz="1600" b="1" i="0">
                <a:solidFill>
                  <a:srgbClr val="0F172A"/>
                </a:solidFill>
                <a:latin typeface="Georgia"/>
              </a:rPr>
              <a:t>Two Subsets Analysed</a:t>
            </a:r>
          </a:p>
          <a:p>
            <a:pPr>
              <a:spcBef>
                <a:spcPts val="200"/>
              </a:spcBef>
            </a:pPr>
            <a:r>
              <a:rPr sz="1050" b="0" i="0">
                <a:solidFill>
                  <a:srgbClr val="334155"/>
                </a:solidFill>
                <a:latin typeface="Calibri"/>
              </a:rPr>
              <a:t>• Literacy Sample (Q3–Q5):
  - Ages 10–64 with non-missing literacy
  - Total sample size: n = 2,357 persons
• Students Sample (Q2):
  - ed_total &gt; 0: n = 1,061 students
  - Analysed range: Rs 100 to Rs 1,000,000
  - Excluded: exactly 1 student (Rs 80).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53328" y="1508760"/>
            <a:ext cx="2633472" cy="2971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53328" y="1508760"/>
            <a:ext cx="2633472" cy="36576"/>
          </a:xfrm>
          <a:prstGeom prst="rect">
            <a:avLst/>
          </a:prstGeom>
          <a:solidFill>
            <a:srgbClr val="2C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1344" y="1618488"/>
            <a:ext cx="2377440" cy="27889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950" b="1" i="0">
                <a:solidFill>
                  <a:srgbClr val="2C7FB8"/>
                </a:solidFill>
                <a:latin typeface="Calibri"/>
              </a:rPr>
              <a:t>SURVEY WEIGHTING &amp; CODE</a:t>
            </a:r>
          </a:p>
          <a:p>
            <a:pPr>
              <a:spcBef>
                <a:spcPts val="300"/>
              </a:spcBef>
              <a:spcAft>
                <a:spcPts val="800"/>
              </a:spcAft>
            </a:pPr>
            <a:r>
              <a:rPr sz="1600" b="1" i="0">
                <a:solidFill>
                  <a:srgbClr val="0F172A"/>
                </a:solidFill>
                <a:latin typeface="Georgia"/>
              </a:rPr>
              <a:t>Exact Weighting &amp; Dual Code</a:t>
            </a:r>
          </a:p>
          <a:p>
            <a:pPr>
              <a:spcBef>
                <a:spcPts val="200"/>
              </a:spcBef>
            </a:pPr>
            <a:r>
              <a:rPr sz="1050" b="0" i="0">
                <a:solidFill>
                  <a:srgbClr val="334155"/>
                </a:solidFill>
                <a:latin typeface="Calibri"/>
              </a:rPr>
              <a:t>• All population rates weighted by hhweight.
• Exact cumulative weight quantiles
  (assignment definition, not built-in).
• R scripts 01–03 + Python script 04.
• Automated verification: R and Python
  band tables match to 0.00% diff.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45152"/>
            <a:ext cx="8229600" cy="16459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645152"/>
            <a:ext cx="8229600" cy="36576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4754880"/>
            <a:ext cx="7973568" cy="1463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1000" b="1" i="0">
                <a:solidFill>
                  <a:srgbClr val="1E3A8A"/>
                </a:solidFill>
                <a:latin typeface="Calibri"/>
              </a:rPr>
              <a:t>CORE ASSIGNMENT FINDINGS AT A GLANCE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965192"/>
            <a:ext cx="38862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Calibri"/>
              </a:rPr>
              <a:t>Question 2 · Education Spending:
</a:t>
            </a:r>
            <a:r>
              <a:rPr sz="1000" b="0" i="0">
                <a:solidFill>
                  <a:srgbClr val="334155"/>
                </a:solidFill>
                <a:latin typeface="Calibri"/>
              </a:rPr>
              <a:t>• Population median is Rs 9,500 vs sample median Rs 10,000.
• High inequality: P90 (Rs 39,000) is 12.38× P10 (Rs 3,150).
• Lower-spending students have higher survey weights,
  pulling the weighted population median downward.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965192"/>
            <a:ext cx="38862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Calibri"/>
              </a:rPr>
              <a:t>Question 3–4 · Literacy &amp; Makeover:
</a:t>
            </a:r>
            <a:r>
              <a:rPr sz="1000" b="0" i="0">
                <a:solidFill>
                  <a:srgbClr val="334155"/>
                </a:solidFill>
                <a:latin typeface="Calibri"/>
              </a:rPr>
              <a:t>• Makeover: replaced overplotted points with conditional means.
• Largest gap is at ages 40–44: 47.4 percentage points
  (Men 77.1% vs Women 29.7%), wider than among youth (21.6).
• Reflects historical schooling expansion, not aging loss.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473952"/>
            <a:ext cx="8229600" cy="914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64008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0" i="0">
                <a:solidFill>
                  <a:srgbClr val="64748B"/>
                </a:solidFill>
                <a:latin typeface="Calibri"/>
              </a:rPr>
              <a:t>ECO346 Data Visualization · FA24-BEDS-105 · Variant 5 (KP Urban) · PSLM 2019–20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6528816"/>
            <a:ext cx="1737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48B"/>
                </a:solidFill>
                <a:latin typeface="Calibri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10896"/>
            <a:ext cx="365760" cy="36576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822960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E3A8A"/>
                </a:solidFill>
                <a:latin typeface="Calibri"/>
              </a:rPr>
              <a:t>QUESTION 2  ·  ANNUAL EDUCATION SPENDING PER STUDENT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F172A"/>
                </a:solidFill>
                <a:latin typeface="Georgia"/>
              </a:rPr>
              <a:t>Education Spending is Heavily Right-Skewed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Weighted histogram on log10 scale (Rs 100 to Rs 1,000,000; bin width 0.1; N = 1,060 students in KP urban).</a:t>
            </a:r>
          </a:p>
        </p:txBody>
      </p:sp>
      <p:pic>
        <p:nvPicPr>
          <p:cNvPr id="4" name="Picture 3" descr="_distribution_slid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1463040"/>
            <a:ext cx="4754880" cy="32689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76672" y="1463040"/>
            <a:ext cx="3310128" cy="14630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6672" y="1463040"/>
            <a:ext cx="3310128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04688" y="1572768"/>
            <a:ext cx="3054096" cy="12801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900" b="1" i="0">
                <a:solidFill>
                  <a:srgbClr val="0D9488"/>
                </a:solidFill>
                <a:latin typeface="Calibri"/>
              </a:rPr>
              <a:t>MEDIAN SPENDING: WEIGHTED VS SAMPLE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4688" y="1719072"/>
            <a:ext cx="14630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00" b="1" i="0">
                <a:solidFill>
                  <a:srgbClr val="0D9488"/>
                </a:solidFill>
                <a:latin typeface="Georgia"/>
              </a:rPr>
              <a:t>Rs 9,500
</a:t>
            </a:r>
            <a:r>
              <a:rPr sz="950" b="1" i="0">
                <a:solidFill>
                  <a:srgbClr val="0D9488"/>
                </a:solidFill>
                <a:latin typeface="Calibri"/>
              </a:rPr>
              <a:t>Weighted Population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68312" y="1719072"/>
            <a:ext cx="14630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00" b="1" i="0">
                <a:solidFill>
                  <a:srgbClr val="64748B"/>
                </a:solidFill>
                <a:latin typeface="Georgia"/>
              </a:rPr>
              <a:t>Rs 10,000
</a:t>
            </a:r>
            <a:r>
              <a:rPr sz="950" b="1" i="0">
                <a:solidFill>
                  <a:srgbClr val="64748B"/>
                </a:solidFill>
                <a:latin typeface="Calibri"/>
              </a:rPr>
              <a:t>Unweighted Sample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4688" y="2331720"/>
            <a:ext cx="30540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 i="0">
                <a:solidFill>
                  <a:srgbClr val="334155"/>
                </a:solidFill>
                <a:latin typeface="Calibri"/>
              </a:rPr>
              <a:t>Students below sample median have higher average survey weights (274.9 vs 228.4), pulling the weighted median downward.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76672" y="3035808"/>
            <a:ext cx="3310128" cy="14630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76672" y="3035808"/>
            <a:ext cx="3310128" cy="36576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4688" y="3145536"/>
            <a:ext cx="3054096" cy="12801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900" b="1" i="0">
                <a:solidFill>
                  <a:srgbClr val="1E3A8A"/>
                </a:solidFill>
                <a:latin typeface="Calibri"/>
              </a:rPr>
              <a:t>PERCENTILE DISPARITY (P90 / P10)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3291840"/>
            <a:ext cx="14630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00" b="1" i="0">
                <a:solidFill>
                  <a:srgbClr val="1E3A8A"/>
                </a:solidFill>
                <a:latin typeface="Georgia"/>
              </a:rPr>
              <a:t>12.38 ×
</a:t>
            </a:r>
            <a:r>
              <a:rPr sz="950" b="1" i="0">
                <a:solidFill>
                  <a:srgbClr val="1E3A8A"/>
                </a:solidFill>
                <a:latin typeface="Calibri"/>
              </a:rPr>
              <a:t>P90 / P10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8312" y="3291840"/>
            <a:ext cx="14630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i="0">
                <a:solidFill>
                  <a:srgbClr val="0F172A"/>
                </a:solidFill>
                <a:latin typeface="Georgia"/>
              </a:rPr>
              <a:t>Rs 39,000
</a:t>
            </a:r>
            <a:r>
              <a:rPr sz="900" b="0" i="0">
                <a:solidFill>
                  <a:srgbClr val="64748B"/>
                </a:solidFill>
                <a:latin typeface="Calibri"/>
              </a:rPr>
              <a:t>90th Pct (P10: Rs 3,150)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3913632"/>
            <a:ext cx="305409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 i="0">
                <a:solidFill>
                  <a:srgbClr val="334155"/>
                </a:solidFill>
                <a:latin typeface="Calibri"/>
              </a:rPr>
              <a:t>Stark expenditure gap: top 10% of households spend over 12 times more per student than the bottom 10%.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76672" y="4608576"/>
            <a:ext cx="3310128" cy="166420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76672" y="4608576"/>
            <a:ext cx="3310128" cy="36576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04688" y="4718304"/>
            <a:ext cx="3054096" cy="14813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900" b="1" i="0">
                <a:solidFill>
                  <a:srgbClr val="64748B"/>
                </a:solidFill>
                <a:latin typeface="Calibri"/>
              </a:rPr>
              <a:t>SAMPLE ARCHITECTURE &amp; EXCLUSION</a:t>
            </a:r>
          </a:p>
          <a:p>
            <a:pPr>
              <a:spcBef>
                <a:spcPts val="300"/>
              </a:spcBef>
            </a:pPr>
            <a:r>
              <a:rPr sz="1000" b="0" i="0">
                <a:solidFill>
                  <a:srgbClr val="334155"/>
                </a:solidFill>
                <a:latin typeface="Calibri"/>
              </a:rPr>
              <a:t>• Students with ed_total &gt; 0: n = 1,061
• Analysed in histogram (Rs 100–1M): n = 1,060
• Outlier excluded: 1 student (spending = Rs 80)
• Population weighted mean: Rs 19,146
• Log10 scale makes high positive skewness interpretable.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473952"/>
            <a:ext cx="8229600" cy="914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28816"/>
            <a:ext cx="64008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0" i="0">
                <a:solidFill>
                  <a:srgbClr val="64748B"/>
                </a:solidFill>
                <a:latin typeface="Calibri"/>
              </a:rPr>
              <a:t>ECO346 Data Visualization · FA24-BEDS-105 · Variant 5 (KP Urban) · PSLM 2019–20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6528816"/>
            <a:ext cx="1737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48B"/>
                </a:solidFill>
                <a:latin typeface="Calibri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10896"/>
            <a:ext cx="365760" cy="36576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822960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E3A8A"/>
                </a:solidFill>
                <a:latin typeface="Calibri"/>
              </a:rPr>
              <a:t>QUESTION 4  ·  THE MAKEOVER (BEFORE &amp; AFTER)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F172A"/>
                </a:solidFill>
                <a:latin typeface="Georgia"/>
              </a:rPr>
              <a:t>From Uninformative Overplotting to Conditional Means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Demonstrating core data visualization principles: identical sample (N = 2,357), radically different insight.</a:t>
            </a:r>
          </a:p>
        </p:txBody>
      </p:sp>
      <p:pic>
        <p:nvPicPr>
          <p:cNvPr id="4" name="Picture 3" descr="_default_slid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1444752"/>
            <a:ext cx="4005072" cy="2860766"/>
          </a:xfrm>
          <a:prstGeom prst="rect">
            <a:avLst/>
          </a:prstGeom>
        </p:spPr>
      </p:pic>
      <p:pic>
        <p:nvPicPr>
          <p:cNvPr id="5" name="Picture 4" descr="_literacy_slid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ns1:svgBlip xmlns:ns1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81728" y="1444752"/>
            <a:ext cx="4005072" cy="25915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89120"/>
            <a:ext cx="400507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64748B"/>
                </a:solidFill>
                <a:latin typeface="Calibri"/>
              </a:rPr>
              <a:t>DEFAULT: R ggplot2 raw scatter (severely overplotted 0/1 points)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4389120"/>
            <a:ext cx="400507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E3A8A"/>
                </a:solidFill>
                <a:latin typeface="Calibri"/>
              </a:rPr>
              <a:t>REDESIGN: Weighted conditional means by 5-year age band and sex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663440"/>
            <a:ext cx="2633472" cy="1719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663440"/>
            <a:ext cx="2633472" cy="3657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4773168"/>
            <a:ext cx="2377440" cy="15361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900" b="1" i="0">
                <a:solidFill>
                  <a:srgbClr val="B91C1C"/>
                </a:solidFill>
                <a:latin typeface="Calibri"/>
              </a:rPr>
              <a:t>1. CONDITIONAL MEANS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 i="0">
                <a:solidFill>
                  <a:srgbClr val="0F172A"/>
                </a:solidFill>
                <a:latin typeface="Georgia"/>
              </a:rPr>
              <a:t>Overcoming Overplotting</a:t>
            </a:r>
          </a:p>
          <a:p>
            <a:pPr>
              <a:spcBef>
                <a:spcPts val="200"/>
              </a:spcBef>
            </a:pPr>
            <a:r>
              <a:rPr sz="980" b="0" i="0">
                <a:solidFill>
                  <a:srgbClr val="334155"/>
                </a:solidFill>
                <a:latin typeface="Calibri"/>
              </a:rPr>
              <a:t>The default plots 2,357 overlapping dots at 0 and 1, completely hiding density and age patterns. Grouping by 5-year bands and taking weighted conditional means reveals the true cohort trajectory.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5264" y="4663440"/>
            <a:ext cx="2633472" cy="1719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55264" y="4663440"/>
            <a:ext cx="2633472" cy="36576"/>
          </a:xfrm>
          <a:prstGeom prst="rect">
            <a:avLst/>
          </a:prstGeom>
          <a:solidFill>
            <a:srgbClr val="2C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773168"/>
            <a:ext cx="2377440" cy="15361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900" b="1" i="0">
                <a:solidFill>
                  <a:srgbClr val="2C7FB8"/>
                </a:solidFill>
                <a:latin typeface="Calibri"/>
              </a:rPr>
              <a:t>2. CHANNEL RANKING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 i="0">
                <a:solidFill>
                  <a:srgbClr val="0F172A"/>
                </a:solidFill>
                <a:latin typeface="Georgia"/>
              </a:rPr>
              <a:t>Position Over Color</a:t>
            </a:r>
          </a:p>
          <a:p>
            <a:pPr>
              <a:spcBef>
                <a:spcPts val="200"/>
              </a:spcBef>
            </a:pPr>
            <a:r>
              <a:rPr sz="980" b="0" i="0">
                <a:solidFill>
                  <a:srgbClr val="334155"/>
                </a:solidFill>
                <a:latin typeface="Calibri"/>
              </a:rPr>
              <a:t>Position on a common scale—the highest-ranked visual channel—is dedicated to the continuous variables: age and literacy rate. Color is reserved strictly for the categorical split by sex.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53328" y="4663440"/>
            <a:ext cx="2633472" cy="171907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53328" y="4663440"/>
            <a:ext cx="2633472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4773168"/>
            <a:ext cx="2377440" cy="15361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900" b="1" i="0">
                <a:solidFill>
                  <a:srgbClr val="0D9488"/>
                </a:solidFill>
                <a:latin typeface="Calibri"/>
              </a:rPr>
              <a:t>3. DATA-INK &amp; TRADEOFF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250" b="1" i="0">
                <a:solidFill>
                  <a:srgbClr val="0F172A"/>
                </a:solidFill>
                <a:latin typeface="Georgia"/>
              </a:rPr>
              <a:t>Direct Labels &amp; Hidden Spread</a:t>
            </a:r>
          </a:p>
          <a:p>
            <a:pPr>
              <a:spcBef>
                <a:spcPts val="200"/>
              </a:spcBef>
            </a:pPr>
            <a:r>
              <a:rPr sz="980" b="0" i="0">
                <a:solidFill>
                  <a:srgbClr val="334155"/>
                </a:solidFill>
                <a:latin typeface="Calibri"/>
              </a:rPr>
              <a:t>Direct end-labels eliminate legend clutter. Trade-off: the default figure shows individual 0/1 spread and sample density, which the redesign hides by aggregating into summary points.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8229600" cy="914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28816"/>
            <a:ext cx="64008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0" i="0">
                <a:solidFill>
                  <a:srgbClr val="64748B"/>
                </a:solidFill>
                <a:latin typeface="Calibri"/>
              </a:rPr>
              <a:t>ECO346 Data Visualization · FA24-BEDS-105 · Variant 5 (KP Urban) · PSLM 2019–20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6528816"/>
            <a:ext cx="1737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48B"/>
                </a:solidFill>
                <a:latin typeface="Calibri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10896"/>
            <a:ext cx="365760" cy="36576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84048"/>
            <a:ext cx="8229600" cy="9601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E3A8A"/>
                </a:solidFill>
                <a:latin typeface="Calibri"/>
              </a:rPr>
              <a:t>QUESTION 3 &amp; 6  ·  PRIMARY DEMOGRAPHIC FINDING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0F172A"/>
                </a:solidFill>
                <a:latin typeface="Georgia"/>
              </a:rPr>
              <a:t>Widest Gender Literacy Gap at Ages 40–44 (47.4 Points)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48B"/>
                </a:solidFill>
                <a:latin typeface="Calibri"/>
              </a:rPr>
              <a:t>Weighted literacy rates by age band and sex in urban Khyber Pakhtunkhwa (PSLM 2019–20).</a:t>
            </a:r>
          </a:p>
        </p:txBody>
      </p:sp>
      <p:pic>
        <p:nvPicPr>
          <p:cNvPr id="4" name="Picture 3" descr="_literacy_slid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1444752"/>
            <a:ext cx="4846320" cy="313585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40680" y="1444752"/>
            <a:ext cx="324612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40680" y="1444752"/>
            <a:ext cx="3246120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68696" y="1554480"/>
            <a:ext cx="2990088" cy="10058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850" b="1" i="0">
                <a:solidFill>
                  <a:srgbClr val="0D9488"/>
                </a:solidFill>
                <a:latin typeface="Calibri"/>
              </a:rPr>
              <a:t>YOUTH COHORT (AGES 15–19)  ·  21.6 POINT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0408" y="1682496"/>
            <a:ext cx="14630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00" b="1" i="0">
                <a:solidFill>
                  <a:srgbClr val="2C7FB8"/>
                </a:solidFill>
                <a:latin typeface="Georgia"/>
              </a:rPr>
              <a:t>89.7%
</a:t>
            </a:r>
            <a:r>
              <a:rPr sz="900" b="0" i="0">
                <a:solidFill>
                  <a:srgbClr val="64748B"/>
                </a:solidFill>
                <a:latin typeface="Calibri"/>
              </a:rPr>
              <a:t>Men (n = 193)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682496"/>
            <a:ext cx="14630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00" b="1" i="0">
                <a:solidFill>
                  <a:srgbClr val="D95F02"/>
                </a:solidFill>
                <a:latin typeface="Georgia"/>
              </a:rPr>
              <a:t>68.1%
</a:t>
            </a:r>
            <a:r>
              <a:rPr sz="900" b="0" i="0">
                <a:solidFill>
                  <a:srgbClr val="64748B"/>
                </a:solidFill>
                <a:latin typeface="Calibri"/>
              </a:rPr>
              <a:t>Women (n = 163)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0408" y="2304288"/>
            <a:ext cx="302666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334155"/>
                </a:solidFill>
                <a:latin typeface="Calibri"/>
              </a:rPr>
              <a:t>Highest female literacy band in adult cohorts; gap narrows among youth.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40680" y="2724912"/>
            <a:ext cx="3246120" cy="118872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40680" y="2724912"/>
            <a:ext cx="3246120" cy="36576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68696" y="2834640"/>
            <a:ext cx="2990088" cy="10058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850" b="1" i="0">
                <a:solidFill>
                  <a:srgbClr val="1E3A8A"/>
                </a:solidFill>
                <a:latin typeface="Calibri"/>
              </a:rPr>
              <a:t>OLDER COHORT (AGES 55–59)  ·  42.6 POINT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0408" y="2962656"/>
            <a:ext cx="14630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00" b="1" i="0">
                <a:solidFill>
                  <a:srgbClr val="2C7FB8"/>
                </a:solidFill>
                <a:latin typeface="Georgia"/>
              </a:rPr>
              <a:t>58.8%
</a:t>
            </a:r>
            <a:r>
              <a:rPr sz="900" b="0" i="0">
                <a:solidFill>
                  <a:srgbClr val="64748B"/>
                </a:solidFill>
                <a:latin typeface="Calibri"/>
              </a:rPr>
              <a:t>Men (n = 41)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962656"/>
            <a:ext cx="146304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00" b="1" i="0">
                <a:solidFill>
                  <a:srgbClr val="D95F02"/>
                </a:solidFill>
                <a:latin typeface="Georgia"/>
              </a:rPr>
              <a:t>16.2%
</a:t>
            </a:r>
            <a:r>
              <a:rPr sz="900" b="0" i="0">
                <a:solidFill>
                  <a:srgbClr val="64748B"/>
                </a:solidFill>
                <a:latin typeface="Calibri"/>
              </a:rPr>
              <a:t>Women (n = 41)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0408" y="3584448"/>
            <a:ext cx="302666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00" b="0" i="0">
                <a:solidFill>
                  <a:srgbClr val="334155"/>
                </a:solidFill>
                <a:latin typeface="Calibri"/>
              </a:rPr>
              <a:t>Severe female disadvantage in older cohorts educated in earlier decades.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4005072"/>
            <a:ext cx="3246120" cy="129844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40680" y="4005072"/>
            <a:ext cx="3246120" cy="3657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68696" y="4114800"/>
            <a:ext cx="2990088" cy="11155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900" b="1" i="0">
                <a:solidFill>
                  <a:srgbClr val="B91C1C"/>
                </a:solidFill>
                <a:latin typeface="Calibri"/>
              </a:rPr>
              <a:t>LARGEST DISPARITY: AGES 40–44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2000" b="1" i="0">
                <a:solidFill>
                  <a:srgbClr val="B91C1C"/>
                </a:solidFill>
                <a:latin typeface="Georgia"/>
              </a:rPr>
              <a:t>47.4 Points Gap</a:t>
            </a:r>
          </a:p>
          <a:p>
            <a:pPr>
              <a:spcBef>
                <a:spcPts val="200"/>
              </a:spcBef>
            </a:pPr>
            <a:r>
              <a:rPr sz="980" b="0" i="0">
                <a:solidFill>
                  <a:srgbClr val="334155"/>
                </a:solidFill>
                <a:latin typeface="Calibri"/>
              </a:rPr>
              <a:t>Men: 77.1% (n = 100) vs Women: 29.7% (n = 110).
Wider than both youth (21.6 pts) and oldest adults (37.8 pts).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13248"/>
            <a:ext cx="8229600" cy="8686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413248"/>
            <a:ext cx="8229600" cy="36576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5522976"/>
            <a:ext cx="7973568" cy="6858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900" b="1" i="0">
                <a:solidFill>
                  <a:srgbClr val="1E3A8A"/>
                </a:solidFill>
                <a:latin typeface="Calibri"/>
              </a:rPr>
              <a:t>CRITICAL ECONOMIC INTERPRETATION: WHAT THIS CANNOT TELL US</a:t>
            </a:r>
          </a:p>
          <a:p>
            <a:pPr>
              <a:spcBef>
                <a:spcPts val="200"/>
              </a:spcBef>
            </a:pPr>
            <a:r>
              <a:rPr sz="1000" b="0" i="0">
                <a:solidFill>
                  <a:srgbClr val="334155"/>
                </a:solidFill>
                <a:latin typeface="Calibri"/>
              </a:rPr>
              <a:t>This cross-section reflects the historical expansion of schooling across birth cohorts over time, not individual people losing literacy as they age. A single cross-section cannot separate aging from birth cohort effects, nor identify causal drivers.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473952"/>
            <a:ext cx="8229600" cy="914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28816"/>
            <a:ext cx="64008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0" i="0">
                <a:solidFill>
                  <a:srgbClr val="64748B"/>
                </a:solidFill>
                <a:latin typeface="Calibri"/>
              </a:rPr>
              <a:t>ECO346 Data Visualization · FA24-BEDS-105 · Variant 5 (KP Urban) · PSLM 2019–20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6528816"/>
            <a:ext cx="173736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48B"/>
                </a:solidFill>
                <a:latin typeface="Calibri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